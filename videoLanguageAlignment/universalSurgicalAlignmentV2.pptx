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624"/>
                </a:solidFill>
                <a:latin typeface="Arial"/>
              </a:defRPr>
            </a:pPr>
            <a:r>
              <a:t>UNIVERSAL SURGICAL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Georgia"/>
              </a:defRPr>
            </a:pPr>
            <a:r>
              <a:t>1. What the System Detects, Measures &amp; Generates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05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01 / DETECT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Open-Vocabulary Objects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SAM-3 segmenter identifies 29+ tools &amp; surgical anatomies in real-time.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Multi-Level Hierarchy: Phase -&gt; Step -&gt; Action -&gt; Tool -&gt; Anatomy.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Open-set adapter adapts zero-shot to completely unseen procedures.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02 / MEASURE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Kinematics &amp; Spatial Motion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3D centroid coordinates &amp; spatial bounding boxes (R5) via DepthAnything.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Optical flow tracks velocity, direction, and deformation vectors.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Differentiates fine tool-tissue interactions (e.g., cutting vs. pulling).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03 / GENERATE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Action Digital Twins (ActDT)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Serializes video frames into machine-readable JSON triplets.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Format: [Subject -&gt; Action -&gt; Object] with spatial-temporal timestamps.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Provides structured digital twin inputs for language reasoning.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624"/>
                </a:solidFill>
                <a:latin typeface="Arial"/>
              </a:defRPr>
            </a:pPr>
            <a:r>
              <a:t>UNIVERSAL SURGICAL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Georgia"/>
              </a:defRPr>
            </a:pPr>
            <a:r>
              <a:t>2. Example Outputs &amp; 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05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01 / VISUAL OUTPUTS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Timelines &amp; Summaries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Real-time synchronized phase &amp; step timeline ribbons.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Time-to-completion summaries &amp; procedure duration logs.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Automated technique classification (e.g., Stop &amp; Chop vs. Divide &amp; Conquer).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02 / ALIGNMENT METRICS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Process Integrity Scores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ADI (Alignment Discrepancy Index): Measures temporal boundary offset in seconds.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SOI (Sequence Order Integrity): Verifies chronological workflow order (Kendall Tau).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Frame-wise Accuracy &amp; Jaccard IoU for temporal segment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03 / ANOMALY DIAGNOSTICS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Skipped-Step Tracking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SDR (Skip Detection Recall): Flags omitted or bypassed surgical steps.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SFR Feature Padding: Preserves context when a step is skipped.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SurgPLAN++ Rectification: Continuously updates predictions in online streaming.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5624"/>
                </a:solidFill>
                <a:latin typeface="Arial"/>
              </a:defRPr>
            </a:pPr>
            <a:r>
              <a:t>UNIVERSAL SURGICAL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Georgia"/>
              </a:defRPr>
            </a:pPr>
            <a:r>
              <a:t>3. Clinical Value &amp; High-Impact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05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01 / SAFETY &amp; GOALS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Intraoperative Checkpoints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Real-time alerts when required safety steps (e.g. Critical View) are skipped.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Verifies whether key surgical milestones are actively being achieved.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Reduces preventable operation errors and complications.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02 / POST-OP &amp; EDUCATION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Automation &amp; Training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Auto-generates structured EHR operative notes and tool usage logs.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Delivers objective surgical skill ratings and motion path analytics.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Cuts manual video review time for surgical trainees from hours to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200"/>
              </a:spcAft>
              <a:defRPr sz="1400" b="1">
                <a:solidFill>
                  <a:srgbClr val="E05624"/>
                </a:solidFill>
                <a:latin typeface="Arial"/>
              </a:defRPr>
            </a:pPr>
            <a:r>
              <a:t>03 / GENERALIZATION</a:t>
            </a:r>
          </a:p>
          <a:p>
            <a:pPr>
              <a:spcAft>
                <a:spcPts val="1400"/>
              </a:spcAft>
              <a:defRPr sz="1600" b="1">
                <a:solidFill>
                  <a:srgbClr val="0A2540"/>
                </a:solidFill>
                <a:latin typeface="Georgia"/>
              </a:defRPr>
            </a:pPr>
            <a:r>
              <a:t>Cross-Specialty Transfer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Transfers across procedures (Cataract, Gastric Bypass, Prostatectomy).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Robust to hospital-specific workflow variations without retraining.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Open-vocabulary text prompts replace rigid hardcoded classifiers.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