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UNIVERSAL SURGICAL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Detection, Measurement &amp; Generation from Surgical Video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400"/>
              </a:spcAft>
              <a:defRPr sz="2800" b="1">
                <a:solidFill>
                  <a:srgbClr val="2563EB"/>
                </a:solidFill>
                <a:latin typeface="Verdana"/>
              </a:defRPr>
            </a:pPr>
            <a:r>
              <a:t>01</a:t>
            </a:r>
          </a:p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Multi-Level Entity Detection</a:t>
            </a:r>
          </a:p>
          <a:p>
            <a:pPr>
              <a:spcAft>
                <a:spcPts val="1400"/>
              </a:spcAft>
              <a:defRPr sz="1100" b="1">
                <a:solidFill>
                  <a:srgbClr val="D97706"/>
                </a:solidFill>
                <a:latin typeface="Verdana"/>
              </a:defRPr>
            </a:pPr>
            <a:r>
              <a:t>MSSU Hierarchical Parsing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Parses Phase → Step → Action → Tool → Anatomy following the MSSU framework.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Identifies fine-grained tool-tissue interactions (e.g., Primary Knife cutting Cornea).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Extracts 29+ specialized surgical tool &amp; anatomical entity classes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400"/>
              </a:spcAft>
              <a:defRPr sz="2800" b="1">
                <a:solidFill>
                  <a:srgbClr val="2563EB"/>
                </a:solidFill>
                <a:latin typeface="Verdana"/>
              </a:defRPr>
            </a:pPr>
            <a:r>
              <a:t>02</a:t>
            </a:r>
          </a:p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Spatial &amp; Kinematic Metrics</a:t>
            </a:r>
          </a:p>
          <a:p>
            <a:pPr>
              <a:spcAft>
                <a:spcPts val="1400"/>
              </a:spcAft>
              <a:defRPr sz="1100" b="1">
                <a:solidFill>
                  <a:srgbClr val="D97706"/>
                </a:solidFill>
                <a:latin typeface="Verdana"/>
              </a:defRPr>
            </a:pPr>
            <a:r>
              <a:t>SAM-3 &amp; Optical Flow Integration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SAM-3 Open-Set Segmentation: Zero-shot mask localization across unseen tools.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3D Centennial Depth (R^5): Tracks bounding boxes (x1, y1, x2, y2) and centroid depth (z).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Optical Flow Dynamics: Maps tool velocity &amp; deformation vectors to extract action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400"/>
              </a:spcAft>
              <a:defRPr sz="2800" b="1">
                <a:solidFill>
                  <a:srgbClr val="2563EB"/>
                </a:solidFill>
                <a:latin typeface="Verdana"/>
              </a:defRPr>
            </a:pPr>
            <a:r>
              <a:t>03</a:t>
            </a:r>
          </a:p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Digital Twin Generation</a:t>
            </a:r>
          </a:p>
          <a:p>
            <a:pPr>
              <a:spcAft>
                <a:spcPts val="1400"/>
              </a:spcAft>
              <a:defRPr sz="1100" b="1">
                <a:solidFill>
                  <a:srgbClr val="D97706"/>
                </a:solidFill>
                <a:latin typeface="Verdana"/>
              </a:defRPr>
            </a:pPr>
            <a:r>
              <a:t>Action-Driven Digital Twins (ActDTs)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Serializes raw pixel streams into structured JSON Subject-Action-Object triplets.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Groups concurrent tool-tissue interactions into non-overlapping temporal intervals.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• Enables direct LLM &amp; text-encoder reasoning without visual token compression.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UNIVERSAL SURGICAL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Quantitative Analytics, Output Timelines &amp; Anomaly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OUTPUT DELIVERABLES &amp; TIMELINES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Real-Time Annotations &amp; Procedural Summaries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Step &amp; Phase Ribbon Annotations: </a:t>
            </a:r>
            <a:r>
              <a:rPr b="0">
                <a:solidFill>
                  <a:srgbClr val="475569"/>
                </a:solidFill>
              </a:rPr>
              <a:t>Generates synchronized color-coded timeline ribbons mapping live video frames to canonical surgical phases and steps.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Time-to-Completion Summaries: </a:t>
            </a:r>
            <a:r>
              <a:rPr b="0">
                <a:solidFill>
                  <a:srgbClr val="475569"/>
                </a:solidFill>
              </a:rPr>
              <a:t>Computes exact active surgical duration, tool utilization percentages, and phase transition intervals.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Structured Case Transcripts: </a:t>
            </a:r>
            <a:r>
              <a:rPr b="0">
                <a:solidFill>
                  <a:srgbClr val="475569"/>
                </a:solidFill>
              </a:rPr>
              <a:t>Outputs human-readable and machine-searchable JSON/text case logs detailing every tool-tissue interaction triplet.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Technique Classification: </a:t>
            </a:r>
            <a:r>
              <a:rPr b="0">
                <a:solidFill>
                  <a:srgbClr val="475569"/>
                </a:solidFill>
              </a:rPr>
              <a:t>Differentiates fine-grained technical variations (e.g., 'Stop &amp; Chop' vs. 'Divide &amp; Conquer' in cataract surgery).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  <a:latin typeface="Verdana"/>
              </a:defRPr>
            </a:pPr>
            <a:r>
              <a:t>EVALUATION METRICS &amp; BENCHMARKS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Safety &amp; Alignment Integrity Metrics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Alignment Discrepancy Index (ADI): </a:t>
            </a:r>
            <a:r>
              <a:rPr b="0">
                <a:solidFill>
                  <a:srgbClr val="475569"/>
                </a:solidFill>
              </a:rPr>
              <a:t>Measures average temporal offset (in seconds) between ground-truth step boundaries and aligned canonical checklist windows.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Sequence Order Integrity (SOI): </a:t>
            </a:r>
            <a:r>
              <a:rPr b="0">
                <a:solidFill>
                  <a:srgbClr val="475569"/>
                </a:solidFill>
              </a:rPr>
              <a:t>Quantifies overall chronological workflow preservation using Kendall's Tau (τ) and Normalized Edit Distance.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Checkpoint Detection Recall (CDR): </a:t>
            </a:r>
            <a:r>
              <a:rPr b="0">
                <a:solidFill>
                  <a:srgbClr val="475569"/>
                </a:solidFill>
              </a:rPr>
              <a:t>Evaluates accuracy in verifying that mandatory clinical milestones and safety criteria have been met.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Skipped-Step Anomaly Flags (SDR &amp; FAR): </a:t>
            </a:r>
            <a:r>
              <a:rPr b="0">
                <a:solidFill>
                  <a:srgbClr val="475569"/>
                </a:solidFill>
              </a:rPr>
              <a:t>Tracks Skip Detection Recall (SDR) and False Alarm Rate (FAR) using Step-aware Feature Padding (SFR) and SurgPLAN++ rectification.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UNIVERSAL SURGICAL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Translational Clinical Value &amp; High-Impact Operating Room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INTRAOPERATIVE SAFETY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Real-Time Safety Checkpoints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Monitors procedural progression in live streams and issues early warning alerts if a mandatory safety step (e.g., Critical View of Safety) is bypassed or performed out of sequence.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D97706"/>
                </a:solidFill>
                <a:latin typeface="Verdana"/>
              </a:defRPr>
            </a:pPr>
            <a:r>
              <a:t>CLINICAL DOCUMENTATION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Automated Post-Op Reporting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Eliminates manual documentation overhead by automatically compiling structured EHR surgical reports, time-to-completion logs, and tool usage summaries directly from video ActDTs.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175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2563EB"/>
                </a:solidFill>
                <a:latin typeface="Verdana"/>
              </a:defRPr>
            </a:pPr>
            <a:r>
              <a:t>CROSS-SPECIALTY SCALABILITY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Zero-Shot Specialty Transfer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Adapts instantly to new surgical disciplines (cataract, gastric bypass, robotic prostatectomy) by simply swapping textual checklists—no visual network retraining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4251960"/>
            <a:ext cx="5175504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D97706"/>
                </a:solidFill>
                <a:latin typeface="Verdana"/>
              </a:defRPr>
            </a:pPr>
            <a:r>
              <a:t>SURGICAL EDUCATION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Objective Skill Assessment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Provides surgical trainees with automated performance ratings, kinematic motion-path analytics, and fine-grained tool-tissue interaction comparisons against expert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